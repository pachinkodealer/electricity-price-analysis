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3040" y="1280160"/>
            <a:ext cx="3108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547F"/>
                </a:solidFill>
                <a:latin typeface="Calibri"/>
              </a:rPr>
              <a:t>ENERGY ECONOMICS  ·  DATA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30632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61B22"/>
                </a:solidFill>
                <a:latin typeface="Cambria"/>
              </a:rPr>
              <a:t>Why Your Electric Bill Stopped Following Fuel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069080"/>
            <a:ext cx="3063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1">
                <a:solidFill>
                  <a:srgbClr val="47515E"/>
                </a:solidFill>
                <a:latin typeface="Cambria"/>
              </a:rPr>
              <a:t>US electricity prices, natural gas, and the datacenter demand era — 1978–2026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0" y="1554480"/>
            <a:ext cx="8595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700" b="1" i="0">
                <a:solidFill>
                  <a:srgbClr val="161B22"/>
                </a:solidFill>
                <a:latin typeface="Calibri"/>
              </a:rPr>
              <a:t>Ian Lee</a:t>
            </a:r>
          </a:p>
          <a:p>
            <a:pPr algn="r">
              <a:spcAft>
                <a:spcPts val="300"/>
              </a:spcAft>
            </a:pPr>
            <a:r>
              <a:rPr sz="1500" b="0" i="0">
                <a:solidFill>
                  <a:srgbClr val="47515E"/>
                </a:solidFill>
                <a:latin typeface="Calibri"/>
              </a:rPr>
              <a:t>Independent data analysis</a:t>
            </a:r>
          </a:p>
          <a:p>
            <a:pPr algn="r">
              <a:spcAft>
                <a:spcPts val="300"/>
              </a:spcAft>
            </a:pPr>
            <a:r>
              <a:rPr sz="1500" b="0" i="0">
                <a:solidFill>
                  <a:srgbClr val="47515E"/>
                </a:solidFill>
                <a:latin typeface="Calibri"/>
              </a:rPr>
              <a:t>June 2026</a:t>
            </a:r>
          </a:p>
          <a:p>
            <a:pPr algn="r"/>
            <a:r>
              <a:rPr sz="1300" b="0" i="0">
                <a:solidFill>
                  <a:srgbClr val="7A8593"/>
                </a:solidFill>
                <a:latin typeface="Calibri"/>
              </a:rPr>
              <a:t>Python · pandas · statsmodels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029200"/>
            <a:ext cx="40965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 i="0">
                <a:solidFill>
                  <a:srgbClr val="161B22"/>
                </a:solidFill>
                <a:latin typeface="Cambria"/>
              </a:rPr>
              <a:t>For decades, US retail electricity tracked the price of natural gas. Around 2020 that link broke — </a:t>
            </a:r>
            <a:r>
              <a:rPr sz="2300" b="1" i="0">
                <a:solidFill>
                  <a:srgbClr val="12547F"/>
                </a:solidFill>
                <a:latin typeface="Cambria"/>
              </a:rPr>
              <a:t>fuel got cheap again, but bills kept climbing</a:t>
            </a:r>
            <a:r>
              <a:rPr sz="2300" b="0" i="0">
                <a:solidFill>
                  <a:srgbClr val="161B22"/>
                </a:solidFill>
                <a:latin typeface="Cambria"/>
              </a:rPr>
              <a:t> — and the timing lines up with the first sustained growth in US power demand in two decades: the AI datacenter buildout.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6720840"/>
            <a:ext cx="9898380" cy="2606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6976872"/>
            <a:ext cx="907541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2547F"/>
                </a:solidFill>
                <a:latin typeface="Cambria"/>
              </a:rPr>
              <a:t>+48%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8202167"/>
            <a:ext cx="9075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Retail electricity, since Jan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8933688"/>
            <a:ext cx="90754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8593"/>
                </a:solidFill>
                <a:latin typeface="Calibri"/>
              </a:rPr>
              <a:t>BLS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18619" y="6720840"/>
            <a:ext cx="9898380" cy="2606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30099" y="6976872"/>
            <a:ext cx="907541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9C470F"/>
                </a:solidFill>
                <a:latin typeface="Cambria"/>
              </a:rPr>
              <a:t>−65%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30099" y="8202167"/>
            <a:ext cx="9075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Natural gas, from its 2022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30099" y="8933688"/>
            <a:ext cx="90754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8593"/>
                </a:solidFill>
                <a:latin typeface="Calibri"/>
              </a:rPr>
              <a:t>HENRY 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174200" y="6720840"/>
            <a:ext cx="9898380" cy="2606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0" y="6976872"/>
            <a:ext cx="907541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2547F"/>
                </a:solidFill>
                <a:latin typeface="Cambria"/>
              </a:rPr>
              <a:t>+19%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0" y="8202167"/>
            <a:ext cx="9075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Electricity since that gas peak — it rose while gas fell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0" y="8933688"/>
            <a:ext cx="90754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8593"/>
                </a:solidFill>
                <a:latin typeface="Calibri"/>
              </a:rPr>
              <a:t>2022 →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29779" y="6720840"/>
            <a:ext cx="9898380" cy="2606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41260" y="6976872"/>
            <a:ext cx="907541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2547F"/>
                </a:solidFill>
                <a:latin typeface="Cambria"/>
              </a:rPr>
              <a:t>2.6 pts/yr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41260" y="8202167"/>
            <a:ext cx="90754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Inflation unexplained by fuel or CPI, since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41260" y="8933688"/>
            <a:ext cx="90754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8593"/>
                </a:solidFill>
                <a:latin typeface="Calibri"/>
              </a:rPr>
              <a:t>RESIDUAL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9601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547F"/>
                </a:solidFill>
                <a:latin typeface="Calibri"/>
              </a:rPr>
              <a:t>MOTIVATION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10012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1B22"/>
                </a:solidFill>
                <a:latin typeface="Cambria"/>
              </a:rPr>
              <a:t>The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1069848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61B22"/>
                </a:solidFill>
                <a:latin typeface="Calibri"/>
              </a:rPr>
              <a:t>From 2014 to 2020, average US electricity prices were essentially flat. Since 2020 they have risen 48%.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1220724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A jump like that usually has a simple cause: costlier fuel, or general inflation lifting everything. So — is this just fuel and inflation, or something genuinely new?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412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547F"/>
                </a:solidFill>
                <a:latin typeface="Calibri"/>
              </a:rPr>
              <a:t>DATA &amp;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14538959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1B22"/>
                </a:solidFill>
                <a:latin typeface="Cambria"/>
              </a:rPr>
              <a:t>47 years, three public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15453359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1B22"/>
                </a:solidFill>
                <a:latin typeface="Calibri"/>
              </a:rPr>
              <a:t>Retail electricity — $/kWh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7A8593"/>
                </a:solidFill>
                <a:latin typeface="Calibri"/>
              </a:rPr>
              <a:t>APU000072610 · BLS · 1978–26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1B22"/>
                </a:solidFill>
                <a:latin typeface="Calibri"/>
              </a:rPr>
              <a:t>Consumer Price Index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7A8593"/>
                </a:solidFill>
                <a:latin typeface="Calibri"/>
              </a:rPr>
              <a:t>CPIAUCSL · BLS · monthly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1B22"/>
                </a:solidFill>
                <a:latin typeface="Calibri"/>
              </a:rPr>
              <a:t>Henry Hub gas — $/MMBtu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7A8593"/>
                </a:solidFill>
                <a:latin typeface="Calibri"/>
              </a:rPr>
              <a:t>MHHNGSP · EIA · 1997–26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17922239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1F77B4"/>
                </a:solidFill>
                <a:latin typeface="Cambria"/>
              </a:rPr>
              <a:t>1   </a:t>
            </a:r>
            <a:r>
              <a:rPr sz="1500" b="0" i="0">
                <a:solidFill>
                  <a:srgbClr val="161B22"/>
                </a:solidFill>
                <a:latin typeface="Calibri"/>
              </a:rPr>
              <a:t>Benchmark electricity against overall inflation (CPI).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1F77B4"/>
                </a:solidFill>
                <a:latin typeface="Cambria"/>
              </a:rPr>
              <a:t>2   </a:t>
            </a:r>
            <a:r>
              <a:rPr sz="1500" b="0" i="0">
                <a:solidFill>
                  <a:srgbClr val="161B22"/>
                </a:solidFill>
                <a:latin typeface="Calibri"/>
              </a:rPr>
              <a:t>Lag-correlate electricity vs. gas, year over year.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1F77B4"/>
                </a:solidFill>
                <a:latin typeface="Cambria"/>
              </a:rPr>
              <a:t>3   </a:t>
            </a:r>
            <a:r>
              <a:rPr sz="1500" b="0" i="0">
                <a:solidFill>
                  <a:srgbClr val="161B22"/>
                </a:solidFill>
                <a:latin typeface="Calibri"/>
              </a:rPr>
              <a:t>Fit a two-factor model (gas + CPI); read what it can't explain.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3040" y="20208239"/>
            <a:ext cx="10972800" cy="64008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20208239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2547F"/>
                </a:solidFill>
                <a:latin typeface="Calibri"/>
              </a:rPr>
              <a:t>Reproducible · live FRED endpoints · no API keys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1625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547F"/>
                </a:solidFill>
                <a:latin typeface="Calibri"/>
              </a:rPr>
              <a:t>CONCLUSIONS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2208276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61B22"/>
                </a:solidFill>
                <a:latin typeface="Calibri"/>
              </a:rPr>
              <a:t>The link between fuel and your bill is broken.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In the shale decade, cheap gas meant flat prices; that cool-off is absent today.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61B22"/>
                </a:solidFill>
                <a:latin typeface="Calibri"/>
              </a:rPr>
              <a:t>Whatever replaced fuel is growing, not fading.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The honest claim isn't “unprecedented” — it's elevated, persistent, and attached to demand that keeps rising.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0" y="9601200"/>
            <a:ext cx="104333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1B22"/>
                </a:solidFill>
                <a:latin typeface="Cambria"/>
              </a:rPr>
              <a:t>The ratchet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64956" y="9628632"/>
            <a:ext cx="6707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8593"/>
                </a:solidFill>
                <a:latin typeface="Calibri"/>
              </a:rPr>
              <a:t>RESULT 01</a:t>
            </a:r>
          </a:p>
        </p:txBody>
      </p:sp>
      <p:pic>
        <p:nvPicPr>
          <p:cNvPr id="37" name="Picture 36" descr="gas_vs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0" y="10104120"/>
            <a:ext cx="14904720" cy="665926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167360" y="16873113"/>
            <a:ext cx="1490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Both series indexed to Jan 2020 = 100. Gas spiked ~4× in 2022 and </a:t>
            </a:r>
            <a:r>
              <a:rPr sz="1500" b="1" i="0">
                <a:solidFill>
                  <a:srgbClr val="161B22"/>
                </a:solidFill>
                <a:latin typeface="Calibri"/>
              </a:rPr>
              <a:t>round-tripped to −65%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; retail electricity followed it up — and never came back down.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0" y="18244713"/>
            <a:ext cx="104333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1B22"/>
                </a:solidFill>
                <a:latin typeface="Cambria"/>
              </a:rPr>
              <a:t>Not just inflation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64956" y="18272145"/>
            <a:ext cx="67071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8593"/>
                </a:solidFill>
                <a:latin typeface="Calibri"/>
              </a:rPr>
              <a:t>RESULT 02</a:t>
            </a:r>
          </a:p>
        </p:txBody>
      </p:sp>
      <p:pic>
        <p:nvPicPr>
          <p:cNvPr id="41" name="Picture 40" descr="electricity_mone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18747633"/>
            <a:ext cx="14904720" cy="758178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167360" y="26439150"/>
            <a:ext cx="1490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Rolling 6-year % change vs. CPI. The shaded band is the 2010s </a:t>
            </a:r>
            <a:r>
              <a:rPr sz="1500" b="1" i="0">
                <a:solidFill>
                  <a:srgbClr val="161B22"/>
                </a:solidFill>
                <a:latin typeface="Calibri"/>
              </a:rPr>
              <a:t>shale decade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, when cheap gas kept prices flat. Today electricity is outrunning inflation — steeper than 96% of all 6-year periods since 1984.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0" y="9601200"/>
            <a:ext cx="9537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1B22"/>
                </a:solidFill>
                <a:latin typeface="Cambria"/>
              </a:rPr>
              <a:t>The unexplained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97108" y="9628632"/>
            <a:ext cx="61310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8593"/>
                </a:solidFill>
                <a:latin typeface="Calibri"/>
              </a:rPr>
              <a:t>RESULT 03</a:t>
            </a:r>
          </a:p>
        </p:txBody>
      </p:sp>
      <p:pic>
        <p:nvPicPr>
          <p:cNvPr id="45" name="Picture 44" descr="residual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0" y="10104120"/>
            <a:ext cx="13624560" cy="485609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8803600" y="15069941"/>
            <a:ext cx="1362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15E"/>
                </a:solidFill>
                <a:latin typeface="Calibri"/>
              </a:rPr>
              <a:t>A two-factor OLS model (6-month-lagged gas + CPI), trained only on pre-2023 data, predicts what electricity inflation </a:t>
            </a:r>
            <a:r>
              <a:rPr sz="1500" b="0" i="1">
                <a:solidFill>
                  <a:srgbClr val="47515E"/>
                </a:solidFill>
                <a:latin typeface="Calibri"/>
              </a:rPr>
              <a:t>should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be. The residual sits near zero for most of history — then </a:t>
            </a:r>
            <a:r>
              <a:rPr sz="1500" b="1" i="0">
                <a:solidFill>
                  <a:srgbClr val="161B22"/>
                </a:solidFill>
                <a:latin typeface="Calibri"/>
              </a:rPr>
              <a:t>lifts to ~2.6 pts/yr after 2023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and stays there.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0" y="16395821"/>
            <a:ext cx="1362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547F"/>
                </a:solidFill>
                <a:latin typeface="Calibri"/>
              </a:rPr>
              <a:t>FINDINGS</a:t>
            </a:r>
          </a:p>
        </p:txBody>
      </p:sp>
      <p:sp>
        <p:nvSpPr>
          <p:cNvPr id="48" name="Oval 47"/>
          <p:cNvSpPr/>
          <p:nvPr/>
        </p:nvSpPr>
        <p:spPr>
          <a:xfrm>
            <a:off x="28803600" y="16853021"/>
            <a:ext cx="457200" cy="457200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0" y="1683473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61968" y="16807301"/>
            <a:ext cx="1296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61B22"/>
                </a:solidFill>
                <a:latin typeface="Calibri"/>
              </a:rPr>
              <a:t>Electricity ratchets.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Follows gas up with a ~6-month lag (r = 0.53) but did not retrace when gas gave back its 2022 spike.</a:t>
            </a:r>
          </a:p>
        </p:txBody>
      </p:sp>
      <p:sp>
        <p:nvSpPr>
          <p:cNvPr id="51" name="Oval 50"/>
          <p:cNvSpPr/>
          <p:nvPr/>
        </p:nvSpPr>
        <p:spPr>
          <a:xfrm>
            <a:off x="28803600" y="18224621"/>
            <a:ext cx="457200" cy="457200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0" y="1820633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461968" y="18178901"/>
            <a:ext cx="1296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61B22"/>
                </a:solidFill>
                <a:latin typeface="Calibri"/>
              </a:rPr>
              <a:t>A persistent ~2.6 pts/yr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of electricity inflation since 2023 is unexplained by fuel or CPI — tracking the datacenter-driven return of demand growth.</a:t>
            </a:r>
          </a:p>
        </p:txBody>
      </p:sp>
      <p:sp>
        <p:nvSpPr>
          <p:cNvPr id="54" name="Oval 53"/>
          <p:cNvSpPr/>
          <p:nvPr/>
        </p:nvSpPr>
        <p:spPr>
          <a:xfrm>
            <a:off x="28803600" y="19596221"/>
            <a:ext cx="457200" cy="457200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3600" y="1957793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61968" y="19550501"/>
            <a:ext cx="1296619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61B22"/>
                </a:solidFill>
                <a:latin typeface="Calibri"/>
              </a:rPr>
              <a:t>Elevated, not unprecedented.</a:t>
            </a:r>
            <a:r>
              <a:rPr sz="1500" b="0" i="0">
                <a:solidFill>
                  <a:srgbClr val="47515E"/>
                </a:solidFill>
                <a:latin typeface="Calibri"/>
              </a:rPr>
              <a:t> Prior residual episodes (2005–09) decayed; this one hasn't — and its driver is still growing.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803600" y="21104981"/>
            <a:ext cx="13624560" cy="2651760"/>
          </a:xfrm>
          <a:prstGeom prst="roundRect">
            <a:avLst>
              <a:gd name="adj" fmla="val 5000"/>
            </a:avLst>
          </a:prstGeom>
          <a:solidFill>
            <a:srgbClr val="F7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123640" y="21361013"/>
            <a:ext cx="12984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9C470F"/>
                </a:solidFill>
                <a:latin typeface="Calibri"/>
              </a:rPr>
              <a:t>STATED LIMITATIONS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47515E"/>
                </a:solidFill>
                <a:latin typeface="Calibri"/>
              </a:rPr>
              <a:t>The residual is “not gas, not CPI” — it bundles datacenter demand with grid capex, plant retirements, and electrification. Not a clean causal estimate.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7515E"/>
                </a:solidFill>
                <a:latin typeface="Calibri"/>
              </a:rPr>
              <a:t>Overlapping YoY series are heavily autocorrelated (Durbin–Watson ≈ 0.2): a descriptive decomposition, not formal inference.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40" y="28313670"/>
            <a:ext cx="2834640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i="0">
                <a:solidFill>
                  <a:srgbClr val="161B22"/>
                </a:solidFill>
                <a:latin typeface="Cambria"/>
              </a:rPr>
              <a:t>Not everyone uses AI.</a:t>
            </a:r>
          </a:p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61B22"/>
                </a:solidFill>
                <a:latin typeface="Cambria"/>
              </a:rPr>
              <a:t>But </a:t>
            </a:r>
            <a:r>
              <a:rPr sz="3300" b="1" i="0">
                <a:solidFill>
                  <a:srgbClr val="9C470F"/>
                </a:solidFill>
                <a:latin typeface="Cambria"/>
              </a:rPr>
              <a:t>everyone pays an electric bill.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272480" y="2863371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47515E"/>
                </a:solidFill>
                <a:latin typeface="Calibri"/>
              </a:rPr>
              <a:t>Data: BLS &amp; EIA via FRED. Reproducible end-to-end.</a:t>
            </a:r>
          </a:p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12547F"/>
                </a:solidFill>
                <a:latin typeface="Calibri"/>
              </a:rPr>
              <a:t>github.com/pachinkodealer/electricity-price-analysis</a:t>
            </a:r>
          </a:p>
          <a:p>
            <a:pPr algn="r"/>
            <a:r>
              <a:rPr sz="1200" b="0" i="0">
                <a:solidFill>
                  <a:srgbClr val="7A8593"/>
                </a:solidFill>
                <a:latin typeface="Calibri"/>
              </a:rPr>
              <a:t>© Ian Lee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